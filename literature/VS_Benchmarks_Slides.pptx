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Virtual Screening Benchmarks: Literature Summary for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EF@1% Performance Benchmarks by Method Class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Method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Typical EF@1%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Representative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Citations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Traditional LBVS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Tanimoto fingerprint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3–8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Baseline 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Classical 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[1,2,3]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2D/3D similarity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15–20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EF@1% = 17.5–19.96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Pre-ML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[21]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Structure-Based Docking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AutoDock Vina (standard)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2–9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DUD-E: 8.8; Unbiased: 1.9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Standard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[7,8]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Glide (commercial)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~21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EF@1% = 21.3 (DUD-E)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 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[25]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With ML rescoring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15–28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OnionNet+Vina: 15.5; DHFR: 28–31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Enhanced docking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[7,23]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Machine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 Forest (RF-Score-VS)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7–40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DUD-E: 39; DEKOIS: 9.8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Dataset-dependent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[9]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Deep Learning (GNINA)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8–19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Target-dependent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CNN-based scoring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[7]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Consensus Methods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Exponential consensus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14–18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Multi-method ensemble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State-of-the-art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[11]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ENS-VS (SOTA)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~53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EF@1% = 52.77 (DUD-E)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Best reported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[24]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Performance Classification:</a:t>
            </a:r>
            <a:r>
              <a:rPr/>
              <a:t> - EF@1% &lt; 3: Poor (no enrichment) - EF@1% 3–8: Fair (adequate for large libraries) - </a:t>
            </a:r>
            <a:r>
              <a:rPr b="1"/>
              <a:t>EF@1% 8–20: Good (recommended for campaigns)</a:t>
            </a:r>
            <a:r>
              <a:rPr/>
              <a:t> - </a:t>
            </a:r>
            <a:r>
              <a:rPr b="1"/>
              <a:t>EF@1% 20–40: Excellent (resource-limited scenarios)</a:t>
            </a:r>
            <a:r>
              <a:rPr/>
              <a:t> - EF@1% &gt; 40: Exceptional (often biased benchmarks)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Critical Context &amp; Your Method’s Position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Dataset Bias Warning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Performance 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DUD-E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2–5× inflated EF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Analogue bias + decoy bias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[29]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LIT-PCBA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Unreliable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leakage + duplication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[33]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Recommendation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Use unbiased splits (UMAP clustering) or prospective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[17,18]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Interpreting Your Results</a:t>
            </a:r>
          </a:p>
          <a:p>
            <a:pPr lvl="0" indent="0" marL="0">
              <a:buNone/>
            </a:pPr>
            <a:r>
              <a:rPr b="1"/>
              <a:t>If your PCA/UMAP + 1-NN achieves: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EF@1%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Scientific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Competitive Position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&lt; 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Needs optimization (descriptors/DR params)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Below classical methods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10–20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Solid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Competitive with traditional docking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20–30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Excellent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Matches commercial tools (Glide)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30–40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Outstanding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Approaches ML methods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&gt; 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Exceptional (verify benchmark bias)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State-of-the-art territory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Advantages of Your Approach</a:t>
            </a:r>
          </a:p>
          <a:p>
            <a:pPr lvl="0"/>
            <a:r>
              <a:rPr/>
              <a:t>✅ </a:t>
            </a:r>
            <a:r>
              <a:rPr b="1"/>
              <a:t>Speed:</a:t>
            </a:r>
            <a:r>
              <a:rPr/>
              <a:t> 5 orders of magnitude faster than docking (k-d tree search) [4]</a:t>
            </a:r>
          </a:p>
          <a:p>
            <a:pPr lvl="0"/>
            <a:r>
              <a:rPr/>
              <a:t>✅ </a:t>
            </a:r>
            <a:r>
              <a:rPr b="1"/>
              <a:t>Scalability:</a:t>
            </a:r>
            <a:r>
              <a:rPr/>
              <a:t> Billion-molecule screening in seconds [4,12]</a:t>
            </a:r>
          </a:p>
          <a:p>
            <a:pPr lvl="0"/>
            <a:r>
              <a:rPr/>
              <a:t>✅ </a:t>
            </a:r>
            <a:r>
              <a:rPr b="1"/>
              <a:t>No structure required:</a:t>
            </a:r>
            <a:r>
              <a:rPr/>
              <a:t> Pure ligand-based (unlike docking)</a:t>
            </a:r>
          </a:p>
          <a:p>
            <a:pPr lvl="0"/>
            <a:r>
              <a:rPr/>
              <a:t>✅ </a:t>
            </a:r>
            <a:r>
              <a:rPr b="1"/>
              <a:t>Theoretical foundation:</a:t>
            </a:r>
            <a:r>
              <a:rPr/>
              <a:t> UMAP preserves chemical similarity manifolds [14,17,18]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Critical Validation Steps</a:t>
            </a:r>
          </a:p>
          <a:p>
            <a:pPr lvl="0" indent="-342900" marL="342900">
              <a:buAutoNum type="arabicPeriod"/>
            </a:pPr>
            <a:r>
              <a:rPr/>
              <a:t>✅ Benchmark on multiple targets (10–15 diverse proteins)</a:t>
            </a:r>
          </a:p>
          <a:p>
            <a:pPr lvl="0" indent="-342900" marL="342900">
              <a:buAutoNum type="arabicPeriod"/>
            </a:pPr>
            <a:r>
              <a:rPr/>
              <a:t>✅ Use UMAP-based clustering splits to avoid analogue bias [17]</a:t>
            </a:r>
          </a:p>
          <a:p>
            <a:pPr lvl="0" indent="-342900" marL="342900">
              <a:buAutoNum type="arabicPeriod"/>
            </a:pPr>
            <a:r>
              <a:rPr/>
              <a:t>✅ Report EF@1%, EF@5%, BEDROC (not just AUC) [6]</a:t>
            </a:r>
          </a:p>
          <a:p>
            <a:pPr lvl="0" indent="-342900" marL="342900">
              <a:buAutoNum type="arabicPeriod"/>
            </a:pPr>
            <a:r>
              <a:rPr/>
              <a:t>✅ Compare to Morgan fingerprint + Tanimoto baseline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Reference: Key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LS-align ligand similarity (EF benchmarks)</a:t>
            </a:r>
            <a:br/>
            <a:r>
              <a:rPr/>
              <a:t>[2-3] Tanimoto coefficient benchmarks</a:t>
            </a:r>
            <a:br/>
            <a:r>
              <a:rPr/>
              <a:t>[4] Low-dimensional embeddings for rapid similarity search (arXiv 2402.07970)</a:t>
            </a:r>
            <a:br/>
            <a:r>
              <a:rPr/>
              <a:t>[6] Evaluating VS metrics (early recognition problem)</a:t>
            </a:r>
            <a:br/>
            <a:r>
              <a:rPr/>
              <a:t>[7] OnionNet-SFCT rescoring</a:t>
            </a:r>
            <a:br/>
            <a:r>
              <a:rPr/>
              <a:t>[8-9] RF-Score-VS on DUD-E/DEKOIS</a:t>
            </a:r>
            <a:br/>
            <a:r>
              <a:rPr/>
              <a:t>[11] Exponential consensus methods</a:t>
            </a:r>
            <a:br/>
            <a:r>
              <a:rPr/>
              <a:t>[12] SPRINT billion-molecule screening</a:t>
            </a:r>
            <a:br/>
            <a:r>
              <a:rPr/>
              <a:t>[14] Understanding UMAP</a:t>
            </a:r>
            <a:br/>
            <a:r>
              <a:rPr/>
              <a:t>[17-18] UMAP clustering splits for rigorous evaluation</a:t>
            </a:r>
            <a:br/>
            <a:r>
              <a:rPr/>
              <a:t>[21] 2D/3D similarity integration</a:t>
            </a:r>
            <a:br/>
            <a:r>
              <a:rPr/>
              <a:t>[23] DHFR ML rescoring</a:t>
            </a:r>
            <a:br/>
            <a:r>
              <a:rPr/>
              <a:t>[24] ENS-VS consensus (best reported EF@1% = 52.77)</a:t>
            </a:r>
            <a:br/>
            <a:r>
              <a:rPr/>
              <a:t>[25] Glide commercial docking baseline</a:t>
            </a:r>
            <a:br/>
            <a:r>
              <a:rPr/>
              <a:t>[29] DUD-E bias analysis</a:t>
            </a:r>
            <a:br/>
            <a:r>
              <a:rPr/>
              <a:t>[33] LIT-PCBA data leakage audit</a:t>
            </a:r>
          </a:p>
          <a:p>
            <a:pPr lvl="0" indent="0" marL="0">
              <a:buNone/>
            </a:pPr>
            <a:r>
              <a:rPr b="1"/>
              <a:t>Full citations available in: </a:t>
            </a:r>
            <a:r>
              <a:rPr b="1">
                <a:latin typeface="Courier"/>
              </a:rPr>
              <a:t>LITERATURE_REVIEW PERPLEXITY.md</a:t>
            </a:r>
            <a:r>
              <a:rPr b="1"/>
              <a:t> and </a:t>
            </a:r>
            <a:r>
              <a:rPr b="1">
                <a:latin typeface="Courier"/>
              </a:rPr>
              <a:t>LITERATURE_REVIEW GEMINI.md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2025-11-07T16:27:11Z</dcterms:created>
  <dcterms:modified xsi:type="dcterms:W3CDTF">2025-11-07T16:27:11Z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